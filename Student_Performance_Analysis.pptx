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SGPA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6.54</c:v>
                </c:pt>
                <c:pt idx="1">
                  <c:v>6.58</c:v>
                </c:pt>
                <c:pt idx="2">
                  <c:v>6.67</c:v>
                </c:pt>
                <c:pt idx="3">
                  <c:v>6.93</c:v>
                </c:pt>
                <c:pt idx="4">
                  <c:v>7.29</c:v>
                </c:pt>
                <c:pt idx="5">
                  <c:v>7.31</c:v>
                </c:pt>
                <c:pt idx="6">
                  <c:v>7.21</c:v>
                </c:pt>
                <c:pt idx="7">
                  <c:v>7.22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bubble3D val="0"/>
            <c:spPr>
              <a:solidFill>
                <a:srgbClr val="F43F5E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Average</c:v>
                </c:pt>
                <c:pt idx="1">
                  <c:v>Low Performer</c:v>
                </c:pt>
                <c:pt idx="2">
                  <c:v>Consistent Topper</c:v>
                </c:pt>
                <c:pt idx="3">
                  <c:v>Late Bloomer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976</c:v>
                </c:pt>
                <c:pt idx="1">
                  <c:v>320</c:v>
                </c:pt>
                <c:pt idx="2">
                  <c:v>272</c:v>
                </c:pt>
                <c:pt idx="3">
                  <c:v>224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SGPA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  <c:pt idx="5">
                    <c:v>Sem 6</c:v>
                  </c:pt>
                  <c:pt idx="6">
                    <c:v>Sem 7</c:v>
                  </c:pt>
                  <c:pt idx="7">
                    <c:v>Sem 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6.81</c:v>
                </c:pt>
                <c:pt idx="1">
                  <c:v>6.86</c:v>
                </c:pt>
                <c:pt idx="2">
                  <c:v>6.95</c:v>
                </c:pt>
                <c:pt idx="3">
                  <c:v>6.76</c:v>
                </c:pt>
                <c:pt idx="4">
                  <c:v>6.7</c:v>
                </c:pt>
                <c:pt idx="5">
                  <c:v>7.1</c:v>
                </c:pt>
                <c:pt idx="6">
                  <c:v>7.23</c:v>
                </c:pt>
                <c:pt idx="7">
                  <c:v>7.3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6"/>
          <c:min val="6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Consistent Topper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21</c:v>
                </c:pt>
                <c:pt idx="5">
                  <c:v>26</c:v>
                </c:pt>
                <c:pt idx="6">
                  <c:v>24</c:v>
                </c:pt>
                <c:pt idx="7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Performer %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24</c:v>
                </c:pt>
                <c:pt idx="1">
                  <c:v>23</c:v>
                </c:pt>
                <c:pt idx="2">
                  <c:v>20</c:v>
                </c:pt>
                <c:pt idx="3">
                  <c:v>17</c:v>
                </c:pt>
                <c:pt idx="4">
                  <c:v>11</c:v>
                </c:pt>
                <c:pt idx="5">
                  <c:v>15</c:v>
                </c:pt>
                <c:pt idx="6">
                  <c:v>16</c:v>
                </c:pt>
                <c:pt idx="7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05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2018 – 2025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5029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Batchwise Academic Performance | 8 Batches | 1,792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520440"/>
            <a:ext cx="1828800" cy="1188720"/>
          </a:xfrm>
          <a:prstGeom prst="rect">
            <a:avLst/>
          </a:prstGeom>
          <a:solidFill>
            <a:srgbClr val="253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566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3520440"/>
            <a:ext cx="1828800" cy="1188720"/>
          </a:xfrm>
          <a:prstGeom prst="rect">
            <a:avLst/>
          </a:prstGeom>
          <a:solidFill>
            <a:srgbClr val="253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566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8892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3520440"/>
            <a:ext cx="1828800" cy="1188720"/>
          </a:xfrm>
          <a:prstGeom prst="rect">
            <a:avLst/>
          </a:prstGeom>
          <a:solidFill>
            <a:srgbClr val="253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566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SGPA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3520440"/>
            <a:ext cx="1828800" cy="1188720"/>
          </a:xfrm>
          <a:prstGeom prst="rect">
            <a:avLst/>
          </a:prstGeom>
          <a:solidFill>
            <a:srgbClr val="253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566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9516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Track Academic Trends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SGPA, marks, and attendance across 8 years and 8 semesters to spot patterns over time.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Identify Performance Groups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3898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students as Consistent Toppers, Average, Late Bloomers, or Low Performers to enable targeted interventions.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Measure Batch Progress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3898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batch-wise improvements from 2018 to 2025 and understand what is driving positive change.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Enable Early Intervention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insights to proactively support struggling students before they fall behind irreversibly.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Inform Academic 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3101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evidence-based recommendations to faculty and management for curriculum and support decisions.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346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Strengthen Student Success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3101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feedback loop between data and action to continuously improve overall institutional outcomes.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Dataset Columns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/ 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14600" y="146304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tracking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837944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5623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(2018–2025)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14600" y="185623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admission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31136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4942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(1–8)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14600" y="224942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semesters covered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24328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4261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Mid1, Mid2, Internals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264261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assessment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3580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Term Marks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14600" y="303580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examination score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410712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290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14600" y="34290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in class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803904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2219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 &amp; SGPA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14600" y="382219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197096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1538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Type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421538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category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Performance Categories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1508760"/>
            <a:ext cx="10972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1527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Topper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records  •  15% of total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286000"/>
            <a:ext cx="10972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976 records  •  54% of total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063240"/>
            <a:ext cx="109728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081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Bloomer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records  •  13% of total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840480"/>
            <a:ext cx="109728" cy="5486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3858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74920" y="4114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records  •  18% of total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SGPA Trend: 2018 → 2025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914400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4652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+10.4%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46520" y="14447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SGPA growth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→ 2023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2240280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7.31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46520" y="27706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avg SGPA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2023)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3566160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3657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🔻 6.54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46520" y="40965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SGPA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2018)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Type Distribution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4572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2120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12080" y="141732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0" y="1417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(54%)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94960" y="16733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students perform at an average level — a large opportunity for improvement.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212080" y="2331720"/>
            <a:ext cx="73152" cy="6858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0" y="2331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 (18%)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94960" y="25877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5 students struggles — targeted intervention is critical for this group.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212080" y="3246120"/>
            <a:ext cx="7315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Topper (15%)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94960" y="35021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segment in recent batches; percentage doubled from 2018 to 2023.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212080" y="4160520"/>
            <a:ext cx="73152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4160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Bloomer (13%)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44165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improve significantly in later semesters — mentorship makes a difference.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SGPA Progression Across Semesters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8412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4988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SGPA dips slightly in Sem 4–5 (midpoint struggle) before recovering strongly in final years — a common pattern worth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Toppers — Batch-wise Growth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914400"/>
            <a:ext cx="1920240" cy="3657600"/>
          </a:xfrm>
          <a:prstGeom prst="rect">
            <a:avLst/>
          </a:prstGeom>
          <a:solidFill>
            <a:srgbClr val="253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0" y="1005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Summary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40880" y="14630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Toppers grew from 12% → 26% (2022–2023 peak)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040880" y="22402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Low performers fell from 24% → 11%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40880" y="30175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2022 marked a turning point in quality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40880" y="37947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Recent batches sustain higher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Do With This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students with falling SGPA or attendance below 70% in Sem 1–2 for immediate counselling.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64008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05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Bloomer Programme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73752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students with an upward trajectory and provide scholarships or recognition to sustain motivation.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3172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423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Intervention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" y="2834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Sem 4–5 SGPA dip with extra coaching, peer study groups, and mental health support.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31720"/>
            <a:ext cx="64008" cy="12801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423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Correlation Study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73752" y="2834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77.3% avg attendance, analyse whether sub-75% students consistently underperform to enforce attendance norms.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49040"/>
            <a:ext cx="64008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840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840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2022–23 Success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8912" y="42519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what changed in Batch 2022–23 (peak topper %) and scale those practices across all batches.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74904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749040"/>
            <a:ext cx="6400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840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840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Faculty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73752" y="42519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dashboard so faculty can track student progress and intervene proactively each semester.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5143500"/>
          </a:xfrm>
          <a:prstGeom prst="rect">
            <a:avLst/>
          </a:prstGeom>
          <a:solidFill>
            <a:srgbClr val="253761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to shape student success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81381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38528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8 years of data reveal a clear positive trend — SGPA rising from 6.54 to 7.22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487168"/>
            <a:ext cx="8138160" cy="475488"/>
          </a:xfrm>
          <a:prstGeom prst="rect">
            <a:avLst/>
          </a:prstGeom>
          <a:solidFill>
            <a:srgbClr val="253761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05456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 18% Low Performers need urgent, structured academic support this semester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54096"/>
            <a:ext cx="81381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72384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The 2022–23 performance surge shows the system can deliver — we must find out why and repeat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21024"/>
            <a:ext cx="8138160" cy="475488"/>
          </a:xfrm>
          <a:prstGeom prst="rect">
            <a:avLst/>
          </a:prstGeom>
          <a:solidFill>
            <a:srgbClr val="253761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39312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Late Bloomers (13%) are a hidden asset — nurture them with mentorship and motivation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187952"/>
            <a:ext cx="81381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06240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A real-time faculty dashboard could transform how we respond to at-risk students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Analysis 2018–2025</dc:title>
  <dc:subject>PptxGenJS Presentation</dc:subject>
  <dc:creator>PptxGenJS</dc:creator>
  <cp:lastModifiedBy>PptxGenJS</cp:lastModifiedBy>
  <cp:revision>1</cp:revision>
  <dcterms:created xsi:type="dcterms:W3CDTF">2026-03-22T14:04:32Z</dcterms:created>
  <dcterms:modified xsi:type="dcterms:W3CDTF">2026-03-22T14:04:32Z</dcterms:modified>
</cp:coreProperties>
</file>